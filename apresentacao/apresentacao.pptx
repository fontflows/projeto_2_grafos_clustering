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tarde. Eu sou o Francisco e este é o Vinicius. O título é uma pergunta de propósito: será que, só com os sensores de um celular, dá para descobrir o que uma pessoa está fazendo, sem ninguém dizer para o computador? A gente usou essa pergunta como fio condutor para o tema do projeto, que é comparar duas formas de encontrar grupos em dados: o clustering tradicional, com K-Means, e a detecção de comunidades em um grafo.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dados são públicos, do repositório de machine learning da UCI. Trinta voluntários, entre 19 e 48 anos, fizeram seis atividades do dia a dia com um celular preso na cintura: andar, subir escada, descer escada, ficar sentado, ficar em pé e ficar deitado.</a:t>
            </a:r>
          </a:p>
          <a:p/>
          <a:p>
            <a:r>
              <a:t>O celular tem dois sensores. O acelerômetro mede a aceleração, inclusive a da gravidade, e por isso ele sabe se o celular está em pé ou deitado. O giroscópio mede rotação. Os dois foram lidos 50 vezes por segundo.</a:t>
            </a:r>
          </a:p>
          <a:p/>
          <a:p>
            <a:r>
              <a:t>Esse sinal contínuo foi cortado em pedaços de 2,56 segundos, que a gente chama de janelas. Cada janela é um objeto do nosso problema, e são 10.299 janelas no total. De cada janela os autores do dataset já calcularam 561 números: médias, desvios, energia do sinal, frequências, ângulos. A gente não precisa entender cada um dos 561; o que importa é que cada janela vira um ponto em um espaço de 561 dimensões.</a:t>
            </a:r>
          </a:p>
          <a:p/>
          <a:p>
            <a:r>
              <a:t>Cada janela também tem um rótulo, que é a atividade que a pessoa estava fazendo. Os pesquisadores filmaram tudo e anotaram à mão. Um detalhe importante: a gente não usa esses rótulos para agrupar. Eles só entram no final, para conferir se os grupos encontrados batem com a realidade.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o plano do trabalho, que segue o enunciado. O primeiro passo é padronizar os 561 atributos: cada um fica com média zero e desvio um, para que nenhum atributo pese mais que outro na distância.</a:t>
            </a:r>
          </a:p>
          <a:p/>
          <a:p>
            <a:r>
              <a:t>Depois os dados seguem dois caminhos. No de cima, o K-Means agrupa as janelas direto no espaço de atributos e gera uma partição que a gente chama de C_cluster. No de baixo, a gente transforma os dados em um grafo, ligando cada janela às janelas mais parecidas com ela, e roda um algoritmo de detecção de comunidades, o Louvain, que a gente implementou do zero. Isso gera a partição C_community.</a:t>
            </a:r>
          </a:p>
          <a:p/>
          <a:p>
            <a:r>
              <a:t>No final, comparamos as duas partições entre si e cada uma com as atividades reais, usando duas métricas: ARI e NMI. Vou explicar as duas quando elas aparecerem.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dá para desenhar 561 dimensões, então para visualizar a gente usou o t-SNE. É um método que comprime os dados para duas dimensões tentando manter perto, no desenho, os pontos que estão perto nos dados originais. Um cuidado: o t-SNE é só para desenhar. Nenhum dos algoritmos usa essas coordenadas; eles trabalham sempre nos 561 atributos.</a:t>
            </a:r>
          </a:p>
          <a:p/>
          <a:p>
            <a:r>
              <a:t>Cada ponto é uma janela, e a cor é a atividade real. Dá para ver três coisas. Primeiro, as atividades paradas ficam à esquerda e as em movimento à direita, bem separadas. Segundo, Sentado, em azul, e Em pé, em verde, ficam completamente misturados. Faz sentido: com o celular na cintura, ficar sentado ou em pé muda muito pouco o sinal. Terceiro, Andando, em laranja, aparece quebrado em várias ilhas pequenas. Guardem essas ilhas, porque elas vão voltar no final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K-Means precisa que a gente diga quantos grupos procurar, o K. Ele escolhe K centros e repete dois passos: cada ponto vai para o centro mais próximo, e cada centro vira a média dos seus pontos. O objetivo é deixar a soma das distâncias de cada ponto ao seu centro, que é o J, a menor possível.</a:t>
            </a:r>
          </a:p>
          <a:p/>
          <a:p>
            <a:r>
              <a:t>Testamos K de 2 a 10. No gráfico da esquerda, o J sempre cai quando K aumenta, o que é esperado, e a ideia do cotovelo é procurar onde ele para de cair rápido. Aqui não tem uma dobra clara.</a:t>
            </a:r>
          </a:p>
          <a:p/>
          <a:p>
            <a:r>
              <a:t>No gráfico da direita está a silhueta, que mede se os grupos são compactos e bem separados. Ela vai de menos um a um, e quanto maior, melhor. O máximo é em K igual a 2, com 0,39, e depois ela despenca. E o que o K-Means faz com K igual a 2? Ele separa "em movimento" de "parado" quase perfeitamente: o ARI dessa divisão é 0,99. Então a estrutura mais forte desses dados é essa divisão em duas.</a:t>
            </a:r>
          </a:p>
          <a:p/>
          <a:p>
            <a:r>
              <a:t>Mesmo assim, para as comparações a gente usou K igual a 6, que é o número de atividades. O enunciado permite escolher K por conhecimento prévio, e a pergunta que nos interessa é quanto das seis atividades o K-Means consegue recuperar.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o segundo caminho, o grafo. Cada janela vira um vértice. Para cada janela, a gente acha as k janelas mais próximas pela distância euclidiana e liga uma à outra. O grafo é simétrico: se A escolheu B como vizinho ou B escolheu A, existe aresta.</a:t>
            </a:r>
          </a:p>
          <a:p/>
          <a:p>
            <a:r>
              <a:t>Cada aresta tem um peso gaussiano, que é essa fórmula aqui: o peso é a exponencial de menos a distância ao quadrado sobre dois sigma ao quadrado. Na prática, vizinhos muito próximos têm peso perto de um, e vizinhos mais distantes, peso menor. O sigma a gente escolheu como a mediana das distâncias entre vizinhos, uma regra simples que se ajusta sozinha à escala dos dados.</a:t>
            </a:r>
          </a:p>
          <a:p/>
          <a:p>
            <a:r>
              <a:t>A figura mostra o grafo com k igual a 10. No zoom, à direita, dá para ver que cada ilha de Andando é bem ligada por dentro e tem poucas ligações com as outras. É exatamente esse tipo de estrutura que um algoritmo de comunidades procura.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algoritmo de comunidades que a gente implementou é o Louvain, em Python puro, com umas 90 linhas. Ele tenta maximizar a modularidade, o Q. A modularidade compara quantas arestas existem dentro das comunidades com quantas existiriam se as arestas fossem sorteadas ao acaso, mantendo o grau de cada vértice. Quanto mais arestas dentro do que o acaso daria, maior o Q.</a:t>
            </a:r>
          </a:p>
          <a:p/>
          <a:p>
            <a:r>
              <a:t>O algoritmo tem duas fases. Na primeira, cada vértice começa sozinho na sua comunidade. Aí a gente passa por todos os vértices e, para cada um, calcula quanto o Q subiria se ele fosse para a comunidade de cada vizinho; ele vai para a melhor. Isso se repete até ninguém mais mudar. Na segunda fase, cada comunidade vira um único vértice, e o peso entre duas comunidades é a soma dos pesos das arestas entre elas. Aí o algoritmo volta para a primeira fase nesse grafo menor, até o Q parar de subir.</a:t>
            </a:r>
          </a:p>
          <a:p/>
          <a:p>
            <a:r>
              <a:t>Para ter certeza de que a implementação está certa, comparamos com o Louvain da biblioteca networkx. No clube de karatê, um grafo clássico de 34 pessoas, a partição sai idêntica. Nos nossos grafos, a modularidade é praticamente a mesma, como mostra a tabela. As partições não são idênticas porque o Louvain depende da ordem em que visita os vértices, que é aleatória, mas a qualidade é a mesma.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é a tabela que o enunciado pede. Além dos valores 3, 5, 10, 15 e 20, a gente acrescentou 30, 50, 100, 200 e 400, para conseguir ver o que acontece nos extremos.</a:t>
            </a:r>
          </a:p>
          <a:p/>
          <a:p>
            <a:r>
              <a:t>Como o Louvain tem uma parte aleatória, cada valor da tabela é a média de cinco execuções com sementes diferentes, e o número depois do "mais ou menos" é o desvio-padrão. Os desvios são pequenos, então os resultados são estáveis.</a:t>
            </a:r>
          </a:p>
          <a:p/>
          <a:p>
            <a:r>
              <a:t>O ARI e o NMI aqui comparam as comunidades com as atividades reais. Os dois valem um quando as partições são iguais. O ARI conta pares de pontos que estão juntos ou separados nas duas partições e desconta o que o acaso daria; o NMI mede quanto saber o grupo de um ponto em uma partição ajuda a adivinhar o grupo dele na outra.</a:t>
            </a:r>
          </a:p>
          <a:p/>
          <a:p>
            <a:r>
              <a:t>A linha destacada é k igual a 100, que é o valor que a gente usa nas comparações. O Vinicius vai mostrar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gráficos respondem as perguntas do enunciado sobre k.</a:t>
            </a:r>
          </a:p>
          <a:p/>
          <a:p>
            <a:r>
              <a:t>Primeiro, a densidade. O grau médio, em cima à esquerda, cresce praticamente proporcional a k: vai de uns 5 com k igual a 3 até mais de 600 com k igual a 400.</a:t>
            </a:r>
          </a:p>
          <a:p/>
          <a:p>
            <a:r>
              <a:t>Segundo, o número de comunidades, em cima à direita. Ele cai rápido: umas 55 com k igual a 3, umas 27 com k igual a 10 e chega a 5 com k igual a 400.</a:t>
            </a:r>
          </a:p>
          <a:p/>
          <a:p>
            <a:r>
              <a:t>Terceiro, a modularidade, embaixo à esquerda, cai o tempo todo. Com mais arestas fica mais difícil ter comunidades isoladas.</a:t>
            </a:r>
          </a:p>
          <a:p/>
          <a:p>
            <a:r>
              <a:t>E qual é o melhor k? Depende do critério. Se a gente olhar só para o Q, o melhor seria k igual a 3. Mas aí são 55 comunidades, que são pedaços das atividades. Olhando a concordância com as atividades reais, que é a linha azul embaixo à direita, o melhor fica entre 50 e 100, e o máximo é em 100, com ARI de 0,55. Por isso escolhemos k igual a 100.</a:t>
            </a:r>
          </a:p>
          <a:p/>
          <a:p>
            <a:r>
              <a:t>Quando k é muito pequeno, o grafo fica fragmentado e enxerga detalhe demais, como vamos ver no final. Quando k é muito grande, as vizinhanças passam a incluir janelas de outras atividades: com 400, andar, subir e descer escada viram uma comunidade só, e o ARI cai. A lição é que Q alto não garante grupos com significado.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comparação visual. Os pontos estão nas mesmas posições nos três mapas; o que muda é a cor. À esquerda, a verdade. No meio, o K-Means. À direita, as comunidades. Para facilitar a comparação, cada grupo recebe a cor da atividade mais comum dentro dele.</a:t>
            </a:r>
          </a:p>
          <a:p/>
          <a:p>
            <a:r>
              <a:t>As duas abordagens acertam o grosso: Deitado, em roxo, sai certinho nos dois, e movimento e parado ficam separados. Nenhuma das duas consegue separar Sentado de Em pé. As duas cortam aquela nuvem do lado esquerdo em dois pedaços, mas o corte não segue a fronteira entre as atividades. No lado em movimento, o grafo isola Subindo escada, em vermelho, bem melhor que o K-Means, que mistura as três atividades.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figura mostra a composição de cada grupo: cada linha é um grupo, cada coluna é uma atividade, e o número diz quantas janelas daquela atividade caíram ali. Se a partição fosse perfeita, a gente veria uma diagonal escura.</a:t>
            </a:r>
          </a:p>
          <a:p/>
          <a:p>
            <a:r>
              <a:t>Deitado é quase perfeito nos dois: no K-Means, 1.557 janelas no último grupo; nas comunidades, 1.831 das 1.860 janelas de Deitado ficaram na comunidade 6.</a:t>
            </a:r>
          </a:p>
          <a:p/>
          <a:p>
            <a:r>
              <a:t>Nas comunidades, Andando e Descendo escada ficaram juntos na comunidade 1, e Subindo escada ficou quase sozinho na comunidade 2. No K-Means, as três atividades em movimento estão espalhadas pelos três primeiros grupos. E nos dois métodos, Sentado e Em pé aparecem misturados em duas linhas.</a:t>
            </a:r>
          </a:p>
          <a:p/>
          <a:p>
            <a:r>
              <a:t>Tem um detalhe curioso: a comunidade 3 tem só duas janelas. São duas janelas seguidas do voluntário 19 descendo a escada, que estão muito longe de todas as outras. Como o peso gaussiano cai muito com a distância, as arestas delas para o resto têm peso praticamente zero, e elas ficam ligadas só entre si. Ou seja, o Louvain isolou um outlier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são os números das três comparações que o enunciado pede.</a:t>
            </a:r>
          </a:p>
          <a:p/>
          <a:p>
            <a:r>
              <a:t>Contra as atividades reais, as comunidades vão melhor que o K-Means nas duas métricas: ARI de 0,54 contra 0,42, e NMI de 0,66 contra 0,56. Entre si, os dois métodos concordam razoavelmente, com ARI de 0,61. Ou seja, eles acertam a mesma divisão grossa e erram no mesmo lugar, que é Sentado contra Em pé.</a:t>
            </a:r>
          </a:p>
          <a:p/>
          <a:p>
            <a:r>
              <a:t>A silhueta, na tabela de baixo, conta uma história diferente. Ela é maior para o K-Means, mas isso é esperado, porque o K-Means otimiza justamente grupos compactos, que é o que a silhueta mede. O mais interessante é a silhueta das próprias atividades reais: 0,03, quase zero. Isso quer dizer que, no espaço de atributos, as atividades não formam bolas compactas e separadas. E é por isso que um método baseado em vizinhança, como o grafo, se sai melhor que um método baseado em centros, como o K-Means.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gente quis ver onde exatamente os métodos erram. Para isso, cada grupo recebe o nome da atividade mais comum dentro dele, e uma janela conta como acerto quando a atividade do seu grupo é a atividade real dela.</a:t>
            </a:r>
          </a:p>
          <a:p/>
          <a:p>
            <a:r>
              <a:t>No mapa, cinza são as janelas que os dois acertam, e preto as que os dois erram. Os pontos pretos se concentram na região de Sentado e Em pé e nas bordas entre as atividades em movimento.</a:t>
            </a:r>
          </a:p>
          <a:p/>
          <a:p>
            <a:r>
              <a:t>Para medir isso, para cada janela a gente olhou as 10 vizinhas mais próximas e contou quantas são de outra atividade. Nas janelas que os dois métodos erram, em média 19% das vizinhas são de outra atividade. Nas que os dois acertam, só 5%. Então os dois erram exatamente onde os próprios dados são ambíguos, nas fronteiras.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o resultado que mais surpreendeu a gente. Lembram das ilhas de Andando? A gente se perguntou o que elas eram.</a:t>
            </a:r>
          </a:p>
          <a:p/>
          <a:p>
            <a:r>
              <a:t>Para cada janela, olhamos as 10 janelas mais parecidas e contamos quantas são da mesma pessoa. Como são 30 pessoas, ao acaso seria uns 3%, que é esse tracinho preto. Para Andando, o resultado é 94%. Para Sentado e Em pé, fica perto de 25%.</a:t>
            </a:r>
          </a:p>
          <a:p/>
          <a:p>
            <a:r>
              <a:t>Como as janelas se sobrepõem no tempo, a gente desconfiou que isso podia ser só porque janelas seguidas são parecidas. Então refizemos a conta ignorando as vizinhas que estão a até 5 janelas de distância no tempo. Andando ainda dá 90%, enquanto Sentado cai para 10%.</a:t>
            </a:r>
          </a:p>
          <a:p/>
          <a:p>
            <a:r>
              <a:t>Ou seja: parado, todo mundo é parecido; andando, cada pessoa tem um ritmo e um balanço próprios, quase uma impressão digital. O grafo enxerga isso. Com k pequeno, as comunidades dentro de Andando correspondem a pessoas, e não a atividades. É a mesma ideia de pesquisas que identificam pessoas pelo jeito de andar.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fechar, quatro conclusões.</a:t>
            </a:r>
          </a:p>
          <a:p/>
          <a:p>
            <a:r>
              <a:t>Primeira: as duas abordagens concordam no grosso. Movimento contra parado e a classe Deitado aparecem nas duas, e o ARI entre elas é 0,61.</a:t>
            </a:r>
          </a:p>
          <a:p/>
          <a:p>
            <a:r>
              <a:t>Segunda: as comunidades recuperam as atividades um pouco melhor, com NMI de 0,66 contra 0,56 do K-Means, porque o grafo trabalha com vizinhança e não exige que os grupos sejam bolas em torno de um centro.</a:t>
            </a:r>
          </a:p>
          <a:p/>
          <a:p>
            <a:r>
              <a:t>Terceira: o k do grafo funciona como um controle de escala. k pequeno enxerga detalhes, como as pessoas; k grande enxerga só o geral. E modularidade alta sozinha não garante grupos úteis.</a:t>
            </a:r>
          </a:p>
          <a:p/>
          <a:p>
            <a:r>
              <a:t>Quarta: os grupos naturais dos dados nem sempre são os rótulos que alguém escolheu. Aqui apareceram duas estruturas que ninguém pediu: a divisão entre movimento e parado, e as próprias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são as referências que usamos, a começar pelo artigo original do Louvain e pelos trabalhos sobre modularidade e comparação de partições.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Obrigado pela atenção. Todo o código roda com um único comando, e as sementes são fixas, então qualquer pessoa consegue reproduzir exatamente esses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modularidade compara a fração de arestas dentro das comunidades com a fração esperada ao acaso, mantendo os graus. No Louvain, o ganho de mover um vértice i para uma comunidade C tem dois termos: o peso das arestas de i para C, que é bom, menos o que seria esperado ao acaso, que é a soma dos graus de C vezes o grau de i, dividido por 2m. O ARI conta pares de pontos que estão juntos ou separados nas duas partições e desconta o acaso. O NMI mede a informação que as duas partições compartilham, normalizada entre zero e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463040"/>
            <a:ext cx="201168" cy="201168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1463040"/>
            <a:ext cx="201168" cy="201168"/>
          </a:xfrm>
          <a:prstGeom prst="ellipse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99616" y="1463040"/>
            <a:ext cx="201168" cy="201168"/>
          </a:xfrm>
          <a:prstGeom prst="ellipse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83664" y="1463040"/>
            <a:ext cx="201168" cy="201168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7712" y="1463040"/>
            <a:ext cx="201168" cy="201168"/>
          </a:xfrm>
          <a:prstGeom prst="ellipse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51760" y="1463040"/>
            <a:ext cx="201168" cy="201168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ource Sans 3"/>
              </a:rPr>
              <a:t>Seu celular sabe o que você está fazendo?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CFDB"/>
                </a:solidFill>
                <a:latin typeface="Source Sans 3"/>
              </a:rPr>
              <a:t>Clustering de dados e detecção de comunidades em grafos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Source Sans 3"/>
              </a:rPr>
              <a:t>Francisco Eduardo Fontenele (15452569)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Source Sans 3"/>
              </a:rPr>
              <a:t>Vinicius Botte (15522900)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CFDB"/>
                </a:solidFill>
                <a:latin typeface="Source Sans 3"/>
              </a:rPr>
              <a:t>Projeto 2  | 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Os dados: 30 pessoas, um celular na cintura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Cada voluntário (19 a 48 anos) fez seis atividades com um Samsung Galaxy S II preso à cintura.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O acelerômetro e o giroscópio foram lidos 50 vezes por segundo e o sinal foi cortado em janelas de 2,56 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De cada janela saem 561 números: médias, desvios, energia, frequências etc.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Cada janela tem um rótulo: a atividade que a pessoa fazia (anotada por vídeo).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A78D6"/>
                </a:solidFill>
                <a:latin typeface="Source Sans 3"/>
              </a:rPr>
              <a:t>10.299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janelas (objetos)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463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A78D6"/>
                </a:solidFill>
                <a:latin typeface="Source Sans 3"/>
              </a:rPr>
              <a:t>561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atributos por janela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291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A78D6"/>
                </a:solidFill>
                <a:latin typeface="Source Sans 3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1605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atividades (rótulos)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291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A78D6"/>
                </a:solidFill>
                <a:latin typeface="Source Sans 3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1605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voluntários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12064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Andando · Subindo escada · Descendo escada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Sentado · Em pé · Deitado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Fonte: UCI Machine Learning Repository (Reyes-Ortiz et al., 2013), licença CC BY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Mesmos dados, duas representações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2194560" cy="822960"/>
          </a:xfrm>
          <a:prstGeom prst="roundRect">
            <a:avLst>
              <a:gd name="adj" fmla="val 15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0116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ource Sans 3"/>
              </a:rPr>
              <a:t>Dados X
10.299 × 561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8346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83464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Padronização
z = (x − μ) / 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19202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K-Means
(K = 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93192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19202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Grafo k-NN
pesos gaussianos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3192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E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31920"/>
            <a:ext cx="19202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Louvain
(nosso)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1737360"/>
            <a:ext cx="1188720" cy="822960"/>
          </a:xfrm>
          <a:prstGeom prst="roundRect">
            <a:avLst>
              <a:gd name="adj" fmla="val 15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1737360"/>
            <a:ext cx="1005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C_cluster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0" y="3931920"/>
            <a:ext cx="1188720" cy="822960"/>
          </a:xfrm>
          <a:prstGeom prst="roundRect">
            <a:avLst>
              <a:gd name="adj" fmla="val 15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3931920"/>
            <a:ext cx="1005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C_comm.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246120"/>
            <a:ext cx="548640" cy="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03520" y="2148840"/>
            <a:ext cx="548640" cy="96012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3383280"/>
            <a:ext cx="548640" cy="96012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148840"/>
            <a:ext cx="2651761" cy="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55279" y="4343400"/>
            <a:ext cx="274321" cy="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32720" y="4343400"/>
            <a:ext cx="274320" cy="0"/>
          </a:xfrm>
          <a:prstGeom prst="line">
            <a:avLst/>
          </a:prstGeom>
          <a:ln w="19050">
            <a:solidFill>
              <a:srgbClr val="6B6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Comparação: ARI e NMI entre C_cluster, C_community e as atividades reais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Como os dados se parecem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4</a:t>
            </a:r>
          </a:p>
        </p:txBody>
      </p:sp>
      <p:pic>
        <p:nvPicPr>
          <p:cNvPr id="4" name="Picture 3" descr="1_dados_origin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34" y="1188720"/>
            <a:ext cx="5651891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645920"/>
            <a:ext cx="4846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Projeção t-SNE: 561 dimensões viram 2, só para desenhar. Os algoritmos usam os 561 atributos.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Em movimento (direita) e parado (esquerda) ficam bem separados.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Sentado e Em pé se misturam: o celular na cintura quase não vê diferença.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Andando aparece em várias ilhas pequenas. Guardem isso.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K-Means: quantos grupos?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5</a:t>
            </a:r>
          </a:p>
        </p:txBody>
      </p:sp>
      <p:pic>
        <p:nvPicPr>
          <p:cNvPr id="4" name="Picture 3" descr="2_escolha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53132"/>
            <a:ext cx="8229600" cy="3037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3716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A78D6"/>
                </a:solidFill>
                <a:latin typeface="Source Sans 3"/>
              </a:rPr>
              <a:t>K =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2402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maior silhueta (0,39)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Com K = 2 o K-Means separa "em movimento" de "parado" quase perfeitamente (ARI = 0,99 com essa divisão).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O cotovelo não tem um ponto claro. Usamos K = 6, o número de atividades, para comparar com os rótulos.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O grafo k-NN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6</a:t>
            </a:r>
          </a:p>
        </p:txBody>
      </p:sp>
      <p:pic>
        <p:nvPicPr>
          <p:cNvPr id="4" name="Picture 3" descr="3_grafo_k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8" y="1143000"/>
            <a:ext cx="781708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371600"/>
            <a:ext cx="32918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Cada janela é um vértice, ligada às suas k vizinhas mais próximas (distância euclidiana).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Grafo simétrico: basta um dos dois ser vizinho do outro.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Peso da aresta: w = exp(−d² / 2σ²), com σ = mediana das distâncias aos vizinhos.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  <a:latin typeface="Source Sans 3"/>
              </a:rPr>
              <a:t>No zoom: cada ilha de Andando é bem ligada por dentro e quase não se liga às outras.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Louvain, implementado por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1. Mover vértices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Cada vértice vai para a comunidade vizinha que mais aumenta a modularidade Q.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Repete até ninguém mais mudar.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2. Agregar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Cada comunidade vira um único vértice; arestas entre comunidades somam seus pesos.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Volta ao passo 1 no grafo menor, até Q parar de subir.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371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Grafo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Q (nosso)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Q (networkx)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Karatê (Zachary)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0,420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0,420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kNN k=3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0,841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0,841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kNN k=5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0,807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0,808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kNN k=10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0,785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0,787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kNN k=15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0,770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0,765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kNN k=20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0,748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0,751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424281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A66"/>
                </a:solidFill>
                <a:latin typeface="Source Sans 3"/>
              </a:rPr>
              <a:t>Validação: mesma modularidade da biblioteca (e partição idêntica no karatê).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Experimento: variando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2103120"/>
                <a:gridCol w="228600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k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Grau médio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Comunidades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Modularidade Q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ARI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ource Sans 3"/>
                        </a:rPr>
                        <a:t>NMI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3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4,6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54,8 ± 2,3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0,842 ± 0,001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0,296 ± 0,012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0,579 ± 0,006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7,7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39,8 ± 0,4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0,808 ± 0,001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0,363 ± 0,023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0,598 ± 0,014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15,5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27,4 ± 1,1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0,785 ± 0,002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0,423 ± 0,034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0,629 ± 0,018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23,3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21,4 ± 1,8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0,767 ± 0,002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0,462 ± 0,029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0,651 ± 0,022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20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31,2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17,6 ± 0,5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0,751 ± 0,004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0,462 ± 0,017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0,648 ± 0,008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30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47,0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14,6 ± 0,5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0,730 ± 0,002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0,500 ± 0,029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0,661 ± 0,012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50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78,8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9,2 ± 0,4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0,703 ± 0,003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0,529 ± 0,034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0,663 ± 0,010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100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158,5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6,4 ± 0,5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0,676 ± 0,004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0,547 ± 0,026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0,660 ± 0,018</a:t>
                      </a:r>
                    </a:p>
                  </a:txBody>
                  <a:tcPr marT="45720" marB="45720">
                    <a:solidFill>
                      <a:srgbClr val="E4EE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200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316,2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6,0 ± 0,0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0,649 ± 0,002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0,516 ± 0,021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0,636 ± 0,015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400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623,3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5,0 ± 0,0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0,611 ± 0,000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0,431 ± 0,000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Source Sans 3"/>
                        </a:rPr>
                        <a:t>0,624 ± 0,001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A66"/>
                </a:solidFill>
                <a:latin typeface="Source Sans 3"/>
              </a:rPr>
              <a:t>ARI e NMI comparam as comunidades com as atividades reais. Média ± desvio-padrão em 5 sementes.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O que k muda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9</a:t>
            </a:r>
          </a:p>
        </p:txBody>
      </p:sp>
      <p:pic>
        <p:nvPicPr>
          <p:cNvPr id="4" name="Picture 3" descr="6_experimento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9556"/>
            <a:ext cx="7680960" cy="50418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18872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371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k pequeno (3 a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Dezenas de comunidades. Q alto, mas os grupos são pedaços de atividades.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92608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k = 100 (escolhido)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118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Cerca de 6 comunidades e o maior ARI com as atividades (0,55).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66344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846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k muito grande (400)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34924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As três atividades em movimento viram uma comunidade só. O ARI cai.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Atividade real × K-Means × comunidades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10</a:t>
            </a:r>
          </a:p>
        </p:txBody>
      </p:sp>
      <p:pic>
        <p:nvPicPr>
          <p:cNvPr id="4" name="Picture 3" descr="4_compa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93873"/>
            <a:ext cx="11612880" cy="4893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O que tem dentro de cada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11</a:t>
            </a:r>
          </a:p>
        </p:txBody>
      </p:sp>
      <p:pic>
        <p:nvPicPr>
          <p:cNvPr id="4" name="Picture 3" descr="5_compos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17752"/>
            <a:ext cx="11430000" cy="3862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Comparação com as atividades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Comparação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ARI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NMI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K-Means × Atividade real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0,42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0,56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Comunidades × Atividade real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0,54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0,66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K-Means × Comunidades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0,61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0,71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5760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Partição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Grupos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ource Sans 3"/>
                        </a:rPr>
                        <a:t>Silhueta</a:t>
                      </a:r>
                    </a:p>
                  </a:txBody>
                  <a:tcPr marT="45720" marB="45720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Atividade real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6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0,03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K-Means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6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0,11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Comunidades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6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Source Sans 3"/>
                        </a:rPr>
                        <a:t>0,08</a:t>
                      </a:r>
                    </a:p>
                  </a:txBody>
                  <a:tcPr marT="45720" marB="45720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463040"/>
            <a:ext cx="4114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As duas abordagens acertam a divisão grossa e erram no mesmo lugar: Sentado × Em pé.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A silhueta das atividades reais é quase zero: no espaço de atributos, as classes não são grupos compactos.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Silhueta favorece o K-Means, que otimiza algo parecido com ela.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Onde os dois métodos erram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13</a:t>
            </a:r>
          </a:p>
        </p:txBody>
      </p:sp>
      <p:pic>
        <p:nvPicPr>
          <p:cNvPr id="4" name="Picture 3" descr="7_discord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33" y="1188720"/>
            <a:ext cx="5136172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4630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B2B2B"/>
                </a:solidFill>
                <a:latin typeface="Source Sans 3"/>
              </a:rPr>
              <a:t>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3317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dos vizinhos são de outra atividade, onde os dois erram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4630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6B6A66"/>
                </a:solidFill>
                <a:latin typeface="Source Sans 3"/>
              </a:rPr>
              <a:t>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3317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onde os dois acertam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56616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Acerto: a atividade mais comum do grupo é a atividade da janela.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Os erros em comum ficam nas fronteiras entre atividades, onde a vizinhança é misturada.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Achado: o jeito de andar é pessoal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14</a:t>
            </a:r>
          </a:p>
        </p:txBody>
      </p:sp>
      <p:pic>
        <p:nvPicPr>
          <p:cNvPr id="4" name="Picture 3" descr="8_pesso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4450"/>
            <a:ext cx="7315200" cy="3740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801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EB6834"/>
                </a:solidFill>
                <a:latin typeface="Source Sans 3"/>
              </a:rPr>
              <a:t>94%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148839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dos vizinhos de uma janela de Andando são da mesma pessoa (ao acaso: 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1089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6B6A66"/>
                </a:solidFill>
                <a:latin typeface="Source Sans 3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977639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A66"/>
                </a:solidFill>
                <a:latin typeface="Source Sans 3"/>
              </a:rPr>
              <a:t>ignorando janelas próximas no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Por isso, com k pequeno, o grafo separa Andando por pessoa (k = 10: NMI comunidade × pessoa = 0,79).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Source Sans 3"/>
              </a:rPr>
              <a:t>Parado, todo mundo é parecido. Andando, cada um tem seu ritmo: é a ideia por trás da identificação pela marcha.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As duas abordagens concordam no grosso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Movimento × parado e Deitado aparecem nas duas. ARI entre elas: 0,61.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Comunidades ligeiramente melhores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NMI com as atividades: 0,66 (comunidades) contra 0,56 (K-Means).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k controla a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k pequeno vê detalhes (pessoas); k grande vê só o geral. Q alto não quer dizer grupos úteis.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233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Os dados têm outra estrutura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262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Source Sans 3"/>
              </a:rPr>
              <a:t>Os grupos naturais nem sempre são os rótulos: aqui aparecem movimento × parado e as próprias pessoas.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BLONDEL, V. D. et al. Fast unfolding of communities in large networks. J. Stat. Mech., P10008, 2008.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FORTUNATO, S. Community detection in graphs. Physics Reports, v. 486, p. 75-174, 2010.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FORTUNATO, S.; BARTHÉLEMY, M. Resolution limit in community detection. PNAS, v. 104, n. 1, p. 36-41, 2007.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HUBERT, L.; ARABIE, P. Comparing partitions. Journal of Classification, v. 2, p. 193-218, 1985.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LLOYD, S. Least squares quantization in PCM. IEEE Trans. Inf. Theory, v. 28, n. 2, p. 129-137, 1982.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NEWMAN, M. E. J. Modularity and community structure in networks. PNAS, v. 103, n. 23, p. 8577-8582, 2006.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NEWMAN, M. E. J.; GIRVAN, M. Finding and evaluating community structure in networks. Phys. Rev. E, v. 69, 026113, 2004.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REYES-ORTIZ, J. et al. Human Activity Recognition Using Smartphones. UCI ML Repository, 2013. DOI 10.24432/C54S4K.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ROUSSEEUW, P. J. Silhouettes. J. Comput. Appl. Math., v. 20, p. 53-65, 1987.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TRAAG, V. A.; WALTMAN, L.; VAN ECK, N. J. From Louvain to Leiden. Scientific Reports, v. 9, 5233, 2019.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VAN DER MAATEN, L.; HINTON, G. Visualizing data using t-SNE. JMLR, v. 9, p. 2579-2605, 2008.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VINH, N. X.; EPPS, J.; BAILEY, J. Information theoretic measures for clusterings comparison. JMLR, v. 11, p. 2837-2854, 2010.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VON LUXBURG, U. A tutorial on spectral clustering. Statistics and Computing, v. 17, p. 395-416, 2007.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B2B"/>
                </a:solidFill>
                <a:latin typeface="Source Sans 3"/>
              </a:rPr>
              <a:t>ZACHARY, W. W. An information flow model for conflict and fission in small groups. J. Anthropol. Res., v. 33, n. 4, p. 452-473, 1977.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377440"/>
            <a:ext cx="201168" cy="201168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2377440"/>
            <a:ext cx="201168" cy="201168"/>
          </a:xfrm>
          <a:prstGeom prst="ellipse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99616" y="2377440"/>
            <a:ext cx="201168" cy="201168"/>
          </a:xfrm>
          <a:prstGeom prst="ellipse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83664" y="2377440"/>
            <a:ext cx="201168" cy="201168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7712" y="2377440"/>
            <a:ext cx="201168" cy="201168"/>
          </a:xfrm>
          <a:prstGeom prst="ellipse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51760" y="2377440"/>
            <a:ext cx="201168" cy="201168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ource Sans 3"/>
              </a:rPr>
              <a:t>Obrigado!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CFDB"/>
                </a:solidFill>
                <a:latin typeface="Source Sans 3"/>
              </a:rPr>
              <a:t>Código, figuras e tabelas: um comando, python src/main.py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ource Sans 3"/>
              </a:rPr>
              <a:t>Perguntas?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233"/>
                </a:solidFill>
                <a:latin typeface="Source Sans 3"/>
              </a:rPr>
              <a:t>Anexo: as medidas usadas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A66"/>
                </a:solidFill>
                <a:latin typeface="Source Sans 3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Modularidade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Q = (1/2m) Σᵢⱼ [Aᵢⱼ − kᵢkⱼ/2m] δ(cᵢ, cⱼ)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Arestas dentro das comunidades menos o esperado num grafo aleatório com os mesmos graus.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3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Ganho de mover o vértice i para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ΔQ ∝ k(i, C) − tot(C) · kᵢ / 2m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k(i, C): peso das arestas de i para C. tot(C): soma dos graus de 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Conta pares de pontos juntos/separados nas duas partições e desconta o acaso. 1 = iguais, 0 = acaso.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233"/>
                </a:solidFill>
                <a:latin typeface="Source Sans 3"/>
              </a:rPr>
              <a:t>NMI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262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NMI = 2 I(U;V) / [H(U) + H(V)]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Source Sans 3"/>
              </a:rPr>
              <a:t>Quanto saber o grupo de uma partição diz sobre a outra. Entre 0 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